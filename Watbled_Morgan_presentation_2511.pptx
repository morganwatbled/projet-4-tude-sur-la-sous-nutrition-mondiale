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Play"/>
      <p:regular r:id="rId22"/>
      <p:bold r:id="rId23"/>
    </p:embeddedFont>
    <p:embeddedFont>
      <p:font typeface="Montserrat SemiBold"/>
      <p:regular r:id="rId24"/>
      <p:bold r:id="rId25"/>
      <p:italic r:id="rId26"/>
      <p:boldItalic r:id="rId27"/>
    </p:embeddedFont>
    <p:embeddedFont>
      <p:font typeface="Roboto"/>
      <p:regular r:id="rId28"/>
      <p:bold r:id="rId29"/>
      <p:italic r:id="rId30"/>
      <p:boldItalic r:id="rId31"/>
    </p:embeddedFont>
    <p:embeddedFont>
      <p:font typeface="Montserrat"/>
      <p:regular r:id="rId32"/>
      <p:bold r:id="rId33"/>
      <p:italic r:id="rId34"/>
      <p:boldItalic r:id="rId35"/>
    </p:embeddedFont>
    <p:embeddedFont>
      <p:font typeface="Fira Sans Extra Condensed Medium"/>
      <p:regular r:id="rId36"/>
      <p:bold r:id="rId37"/>
      <p:italic r:id="rId38"/>
      <p:boldItalic r:id="rId39"/>
    </p:embeddedFont>
    <p:embeddedFont>
      <p:font typeface="Fira Sans Extra Condensed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FiraSansExtraCondensed-regular.fntdata"/><Relationship Id="rId20" Type="http://schemas.openxmlformats.org/officeDocument/2006/relationships/slide" Target="slides/slide14.xml"/><Relationship Id="rId42" Type="http://schemas.openxmlformats.org/officeDocument/2006/relationships/font" Target="fonts/FiraSansExtraCondensed-italic.fntdata"/><Relationship Id="rId41" Type="http://schemas.openxmlformats.org/officeDocument/2006/relationships/font" Target="fonts/FiraSansExtraCondensed-bold.fntdata"/><Relationship Id="rId22" Type="http://schemas.openxmlformats.org/officeDocument/2006/relationships/font" Target="fonts/Play-regular.fntdata"/><Relationship Id="rId21" Type="http://schemas.openxmlformats.org/officeDocument/2006/relationships/slide" Target="slides/slide15.xml"/><Relationship Id="rId43" Type="http://schemas.openxmlformats.org/officeDocument/2006/relationships/font" Target="fonts/FiraSansExtraCondensed-boldItalic.fntdata"/><Relationship Id="rId24" Type="http://schemas.openxmlformats.org/officeDocument/2006/relationships/font" Target="fonts/MontserratSemiBold-regular.fntdata"/><Relationship Id="rId23" Type="http://schemas.openxmlformats.org/officeDocument/2006/relationships/font" Target="fonts/Play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MontserratSemiBold-italic.fntdata"/><Relationship Id="rId25" Type="http://schemas.openxmlformats.org/officeDocument/2006/relationships/font" Target="fonts/MontserratSemiBold-bold.fntdata"/><Relationship Id="rId28" Type="http://schemas.openxmlformats.org/officeDocument/2006/relationships/font" Target="fonts/Roboto-regular.fntdata"/><Relationship Id="rId27" Type="http://schemas.openxmlformats.org/officeDocument/2006/relationships/font" Target="fonts/MontserratSemiBold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-boldItalic.fntdata"/><Relationship Id="rId30" Type="http://schemas.openxmlformats.org/officeDocument/2006/relationships/font" Target="fonts/Roboto-italic.fntdata"/><Relationship Id="rId11" Type="http://schemas.openxmlformats.org/officeDocument/2006/relationships/slide" Target="slides/slide5.xml"/><Relationship Id="rId33" Type="http://schemas.openxmlformats.org/officeDocument/2006/relationships/font" Target="fonts/Montserrat-bold.fntdata"/><Relationship Id="rId10" Type="http://schemas.openxmlformats.org/officeDocument/2006/relationships/slide" Target="slides/slide4.xml"/><Relationship Id="rId32" Type="http://schemas.openxmlformats.org/officeDocument/2006/relationships/font" Target="fonts/Montserrat-regular.fntdata"/><Relationship Id="rId13" Type="http://schemas.openxmlformats.org/officeDocument/2006/relationships/slide" Target="slides/slide7.xml"/><Relationship Id="rId35" Type="http://schemas.openxmlformats.org/officeDocument/2006/relationships/font" Target="fonts/Montserrat-boldItalic.fntdata"/><Relationship Id="rId12" Type="http://schemas.openxmlformats.org/officeDocument/2006/relationships/slide" Target="slides/slide6.xml"/><Relationship Id="rId34" Type="http://schemas.openxmlformats.org/officeDocument/2006/relationships/font" Target="fonts/Montserrat-italic.fntdata"/><Relationship Id="rId15" Type="http://schemas.openxmlformats.org/officeDocument/2006/relationships/slide" Target="slides/slide9.xml"/><Relationship Id="rId37" Type="http://schemas.openxmlformats.org/officeDocument/2006/relationships/font" Target="fonts/FiraSansExtraCondensedMedium-bold.fntdata"/><Relationship Id="rId14" Type="http://schemas.openxmlformats.org/officeDocument/2006/relationships/slide" Target="slides/slide8.xml"/><Relationship Id="rId36" Type="http://schemas.openxmlformats.org/officeDocument/2006/relationships/font" Target="fonts/FiraSansExtraCondensedMedium-regular.fntdata"/><Relationship Id="rId17" Type="http://schemas.openxmlformats.org/officeDocument/2006/relationships/slide" Target="slides/slide11.xml"/><Relationship Id="rId39" Type="http://schemas.openxmlformats.org/officeDocument/2006/relationships/font" Target="fonts/FiraSansExtraCondensedMedium-boldItalic.fntdata"/><Relationship Id="rId16" Type="http://schemas.openxmlformats.org/officeDocument/2006/relationships/slide" Target="slides/slide10.xml"/><Relationship Id="rId38" Type="http://schemas.openxmlformats.org/officeDocument/2006/relationships/font" Target="fonts/FiraSansExtraCondensedMedium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1fe6834cb_2_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a1fe6834cb_2_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1fe6834cb_2_8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g3a1fe6834cb_2_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a1fe6834cb_2_9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g3a1fe6834cb_2_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a1fe6834cb_2_1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0" name="Google Shape;170;g3a1fe6834cb_2_1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1fe6834cb_2_1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" name="Google Shape;184;g3a1fe6834cb_2_1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a1fe6834cb_2_1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" name="Google Shape;202;g3a1fe6834cb_2_1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a1fe6834cb_2_2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4" name="Google Shape;274;g3a1fe6834cb_2_2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a1fe6834cb_2_2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2" name="Google Shape;282;g3a1fe6834cb_2_2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a1fe6834cb_2_2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0" name="Google Shape;300;g3a1fe6834cb_2_2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a1fe6834cb_2_2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2" name="Google Shape;312;g3a1fe6834cb_2_2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a482c6c34d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a482c6c34d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a1fe6834cb_2_2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3" name="Google Shape;333;g3a1fe6834cb_2_2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a1fe6834cb_2_2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2" name="Google Shape;342;g3a1fe6834cb_2_2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a1fe6834cb_2_2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3" name="Google Shape;353;g3a1fe6834cb_2_2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a1fe6834cb_2_2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7" name="Google Shape;367;g3a1fe6834cb_2_2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83" name="Google Shape;83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9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9" name="Google Shape;89;p19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0" name="Google Shape;90;p19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1" name="Google Shape;91;p1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p14:dur="200">
        <p:fade/>
      </p:transition>
    </mc:Choice>
    <mc:Fallback>
      <p:transition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mc:AlternateContent>
    <mc:Choice Requires="p14">
      <p:transition p14:dur="200">
        <p:fade/>
      </p:transition>
    </mc:Choice>
    <mc:Fallback>
      <p:transition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3.png"/><Relationship Id="rId4" Type="http://schemas.openxmlformats.org/officeDocument/2006/relationships/image" Target="../media/image18.png"/><Relationship Id="rId5" Type="http://schemas.openxmlformats.org/officeDocument/2006/relationships/image" Target="../media/image1.png"/><Relationship Id="rId6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2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5.png"/><Relationship Id="rId4" Type="http://schemas.openxmlformats.org/officeDocument/2006/relationships/image" Target="../media/image22.png"/><Relationship Id="rId5" Type="http://schemas.openxmlformats.org/officeDocument/2006/relationships/image" Target="../media/image26.png"/><Relationship Id="rId6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0" y="0"/>
            <a:ext cx="9143999" cy="514302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5"/>
          <p:cNvSpPr txBox="1"/>
          <p:nvPr>
            <p:ph type="title"/>
          </p:nvPr>
        </p:nvSpPr>
        <p:spPr>
          <a:xfrm>
            <a:off x="548513" y="1728677"/>
            <a:ext cx="3672796" cy="253360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 Extra Condensed"/>
              <a:buNone/>
            </a:pPr>
            <a:r>
              <a:rPr lang="fr" sz="2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	</a:t>
            </a:r>
            <a:r>
              <a:rPr b="1" lang="fr" sz="2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Etudes de la</a:t>
            </a:r>
            <a:r>
              <a:rPr b="1" lang="fr" sz="26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 </a:t>
            </a:r>
            <a:r>
              <a:rPr b="1" lang="fr" sz="2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faim 	</a:t>
            </a:r>
            <a:endParaRPr b="1" sz="2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 Extra Condensed"/>
              <a:buNone/>
            </a:pPr>
            <a:r>
              <a:rPr b="1" lang="fr" sz="26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          </a:t>
            </a:r>
            <a:r>
              <a:rPr b="1" lang="fr" sz="2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dans le monde</a:t>
            </a:r>
            <a:br>
              <a:rPr lang="fr" sz="2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</a:br>
            <a:r>
              <a:rPr lang="fr" sz="2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	</a:t>
            </a:r>
            <a:br>
              <a:rPr lang="fr" sz="2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</a:br>
            <a:br>
              <a:rPr lang="fr" sz="2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</a:br>
            <a:r>
              <a:rPr lang="fr" sz="2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	</a:t>
            </a:r>
            <a:r>
              <a:rPr b="1" lang="fr" sz="2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entre 2013 et 2018</a:t>
            </a:r>
            <a:endParaRPr/>
          </a:p>
        </p:txBody>
      </p:sp>
      <p:grpSp>
        <p:nvGrpSpPr>
          <p:cNvPr id="131" name="Google Shape;131;p25"/>
          <p:cNvGrpSpPr/>
          <p:nvPr/>
        </p:nvGrpSpPr>
        <p:grpSpPr>
          <a:xfrm>
            <a:off x="0" y="2238744"/>
            <a:ext cx="548641" cy="505095"/>
            <a:chOff x="3940602" y="308034"/>
            <a:chExt cx="2116791" cy="3428999"/>
          </a:xfrm>
        </p:grpSpPr>
        <p:sp>
          <p:nvSpPr>
            <p:cNvPr id="132" name="Google Shape;132;p25"/>
            <p:cNvSpPr/>
            <p:nvPr/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25"/>
            <p:cNvSpPr/>
            <p:nvPr/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25"/>
            <p:cNvSpPr/>
            <p:nvPr/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5" name="Google Shape;135;p25"/>
          <p:cNvSpPr/>
          <p:nvPr/>
        </p:nvSpPr>
        <p:spPr>
          <a:xfrm flipH="1">
            <a:off x="8023253" y="0"/>
            <a:ext cx="1120748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5"/>
          <p:cNvSpPr/>
          <p:nvPr/>
        </p:nvSpPr>
        <p:spPr>
          <a:xfrm>
            <a:off x="4264358" y="293915"/>
            <a:ext cx="4507025" cy="4512809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Organisation des Nations unies pour l'alimentation et l ..." id="137" name="Google Shape;13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12632" y="1448239"/>
            <a:ext cx="2366315" cy="240846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5"/>
          <p:cNvSpPr txBox="1"/>
          <p:nvPr/>
        </p:nvSpPr>
        <p:spPr>
          <a:xfrm>
            <a:off x="146891" y="4409768"/>
            <a:ext cx="126895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1/15</a:t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 txBox="1"/>
          <p:nvPr/>
        </p:nvSpPr>
        <p:spPr>
          <a:xfrm>
            <a:off x="294967" y="4595426"/>
            <a:ext cx="4572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</a:rPr>
              <a:t>2</a:t>
            </a:r>
            <a:r>
              <a:rPr lang="f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/15</a:t>
            </a:r>
            <a:endParaRPr sz="1100"/>
          </a:p>
        </p:txBody>
      </p:sp>
      <p:sp>
        <p:nvSpPr>
          <p:cNvPr id="144" name="Google Shape;144;p26"/>
          <p:cNvSpPr txBox="1"/>
          <p:nvPr>
            <p:ph type="title"/>
          </p:nvPr>
        </p:nvSpPr>
        <p:spPr>
          <a:xfrm>
            <a:off x="628650" y="58619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Fira Sans Extra Condensed"/>
              <a:buNone/>
            </a:pPr>
            <a:r>
              <a:rPr b="1" lang="fr" sz="28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             </a:t>
            </a:r>
            <a:r>
              <a:rPr b="1" lang="fr" sz="28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Avec ces 4 tables de données, nous allons </a:t>
            </a:r>
            <a:endParaRPr b="1" sz="28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457200" lvl="0" marL="1828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Fira Sans Extra Condensed"/>
              <a:buNone/>
            </a:pPr>
            <a:r>
              <a:rPr b="1" lang="fr" sz="28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  faire nos études</a:t>
            </a:r>
            <a:endParaRPr sz="2800"/>
          </a:p>
        </p:txBody>
      </p:sp>
      <p:pic>
        <p:nvPicPr>
          <p:cNvPr id="145" name="Google Shape;14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275" y="1154975"/>
            <a:ext cx="4136576" cy="1374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050" y="2833150"/>
            <a:ext cx="4118650" cy="145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71825" y="1112925"/>
            <a:ext cx="4430767" cy="145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40850" y="2896225"/>
            <a:ext cx="4903150" cy="13747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6"/>
          <p:cNvSpPr txBox="1"/>
          <p:nvPr/>
        </p:nvSpPr>
        <p:spPr>
          <a:xfrm>
            <a:off x="1286000" y="844875"/>
            <a:ext cx="3142200" cy="1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solidFill>
                  <a:schemeClr val="dk1"/>
                </a:solidFill>
              </a:rPr>
              <a:t>Sous nutrition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50" name="Google Shape;150;p26"/>
          <p:cNvSpPr txBox="1"/>
          <p:nvPr/>
        </p:nvSpPr>
        <p:spPr>
          <a:xfrm>
            <a:off x="5893775" y="827775"/>
            <a:ext cx="2316300" cy="1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solidFill>
                  <a:schemeClr val="dk1"/>
                </a:solidFill>
              </a:rPr>
              <a:t>Aide alimentaire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51" name="Google Shape;151;p26"/>
          <p:cNvSpPr txBox="1"/>
          <p:nvPr/>
        </p:nvSpPr>
        <p:spPr>
          <a:xfrm>
            <a:off x="1507925" y="2529700"/>
            <a:ext cx="2265300" cy="1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solidFill>
                  <a:schemeClr val="dk1"/>
                </a:solidFill>
              </a:rPr>
              <a:t>Population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52" name="Google Shape;152;p26"/>
          <p:cNvSpPr txBox="1"/>
          <p:nvPr/>
        </p:nvSpPr>
        <p:spPr>
          <a:xfrm>
            <a:off x="5544600" y="2571738"/>
            <a:ext cx="31422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solidFill>
                  <a:schemeClr val="dk1"/>
                </a:solidFill>
              </a:rPr>
              <a:t>Disponibilité alimentaire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7"/>
          <p:cNvSpPr txBox="1"/>
          <p:nvPr/>
        </p:nvSpPr>
        <p:spPr>
          <a:xfrm>
            <a:off x="6423695" y="2859523"/>
            <a:ext cx="2627400" cy="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400">
                <a:solidFill>
                  <a:srgbClr val="FA8072"/>
                </a:solidFill>
                <a:latin typeface="Montserrat"/>
                <a:ea typeface="Montserrat"/>
                <a:cs typeface="Montserrat"/>
                <a:sym typeface="Montserrat"/>
              </a:rPr>
              <a:t>535 700 000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7"/>
          <p:cNvSpPr/>
          <p:nvPr/>
        </p:nvSpPr>
        <p:spPr>
          <a:xfrm>
            <a:off x="5022201" y="2760101"/>
            <a:ext cx="876300" cy="876300"/>
          </a:xfrm>
          <a:prstGeom prst="donut">
            <a:avLst>
              <a:gd fmla="val 11964" name="adj"/>
            </a:avLst>
          </a:prstGeom>
          <a:solidFill>
            <a:srgbClr val="E6E6E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7"/>
          <p:cNvSpPr/>
          <p:nvPr/>
        </p:nvSpPr>
        <p:spPr>
          <a:xfrm>
            <a:off x="5022201" y="2760101"/>
            <a:ext cx="876300" cy="876300"/>
          </a:xfrm>
          <a:prstGeom prst="blockArc">
            <a:avLst>
              <a:gd fmla="val 13219689" name="adj1"/>
              <a:gd fmla="val 16215121" name="adj2"/>
              <a:gd fmla="val 12223" name="adj3"/>
            </a:avLst>
          </a:prstGeom>
          <a:solidFill>
            <a:srgbClr val="FA8072"/>
          </a:solidFill>
          <a:ln cap="flat" cmpd="sng" w="9525">
            <a:solidFill>
              <a:srgbClr val="FA80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rgbClr val="FA807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7"/>
          <p:cNvSpPr txBox="1"/>
          <p:nvPr/>
        </p:nvSpPr>
        <p:spPr>
          <a:xfrm>
            <a:off x="5219932" y="3092764"/>
            <a:ext cx="591300" cy="2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8072"/>
              </a:buClr>
              <a:buSzPts val="1800"/>
              <a:buFont typeface="Fira Sans Extra Condensed"/>
              <a:buNone/>
            </a:pPr>
            <a:r>
              <a:rPr b="1" lang="fr" sz="1800">
                <a:solidFill>
                  <a:srgbClr val="FA807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7,1%</a:t>
            </a:r>
            <a:endParaRPr b="1" sz="1800">
              <a:solidFill>
                <a:srgbClr val="FA807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61" name="Google Shape;161;p27"/>
          <p:cNvSpPr txBox="1"/>
          <p:nvPr/>
        </p:nvSpPr>
        <p:spPr>
          <a:xfrm>
            <a:off x="1137792" y="189494"/>
            <a:ext cx="74847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	Malgré les progrès agricoles et économiques, la faim 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		      reste un problème mondial majeur</a:t>
            </a:r>
            <a:endParaRPr sz="1100"/>
          </a:p>
        </p:txBody>
      </p:sp>
      <p:sp>
        <p:nvSpPr>
          <p:cNvPr id="162" name="Google Shape;162;p27"/>
          <p:cNvSpPr txBox="1"/>
          <p:nvPr/>
        </p:nvSpPr>
        <p:spPr>
          <a:xfrm>
            <a:off x="6151770" y="1745274"/>
            <a:ext cx="2627400" cy="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400">
                <a:solidFill>
                  <a:srgbClr val="87CEEB"/>
                </a:solidFill>
                <a:latin typeface="Montserrat"/>
                <a:ea typeface="Montserrat"/>
                <a:cs typeface="Montserrat"/>
                <a:sym typeface="Montserrat"/>
              </a:rPr>
              <a:t>7 008 098 779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7"/>
          <p:cNvSpPr/>
          <p:nvPr/>
        </p:nvSpPr>
        <p:spPr>
          <a:xfrm>
            <a:off x="5022199" y="1531715"/>
            <a:ext cx="876300" cy="876300"/>
          </a:xfrm>
          <a:prstGeom prst="donut">
            <a:avLst>
              <a:gd fmla="val 11964" name="adj"/>
            </a:avLst>
          </a:prstGeom>
          <a:solidFill>
            <a:srgbClr val="E6E6E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7"/>
          <p:cNvSpPr/>
          <p:nvPr/>
        </p:nvSpPr>
        <p:spPr>
          <a:xfrm>
            <a:off x="5022201" y="1531765"/>
            <a:ext cx="876300" cy="876300"/>
          </a:xfrm>
          <a:prstGeom prst="blockArc">
            <a:avLst>
              <a:gd fmla="val 19291793" name="adj1"/>
              <a:gd fmla="val 16215121" name="adj2"/>
              <a:gd fmla="val 12223" name="adj3"/>
            </a:avLst>
          </a:prstGeom>
          <a:solidFill>
            <a:srgbClr val="87CEEB"/>
          </a:solidFill>
          <a:ln cap="flat" cmpd="sng" w="9525">
            <a:solidFill>
              <a:srgbClr val="87CE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rgbClr val="FA807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7"/>
          <p:cNvSpPr txBox="1"/>
          <p:nvPr/>
        </p:nvSpPr>
        <p:spPr>
          <a:xfrm>
            <a:off x="5073212" y="1864428"/>
            <a:ext cx="774300" cy="2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7CEEB"/>
              </a:buClr>
              <a:buSzPts val="1800"/>
              <a:buFont typeface="Fira Sans Extra Condensed"/>
              <a:buNone/>
            </a:pPr>
            <a:r>
              <a:rPr b="1" lang="fr" sz="1800">
                <a:solidFill>
                  <a:srgbClr val="87CEEB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92,9%</a:t>
            </a:r>
            <a:endParaRPr b="1" sz="1800">
              <a:solidFill>
                <a:srgbClr val="87CEEB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66" name="Google Shape;166;p27"/>
          <p:cNvSpPr txBox="1"/>
          <p:nvPr/>
        </p:nvSpPr>
        <p:spPr>
          <a:xfrm>
            <a:off x="294967" y="4595426"/>
            <a:ext cx="4572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</a:rPr>
              <a:t>3</a:t>
            </a:r>
            <a:r>
              <a:rPr lang="f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/15</a:t>
            </a:r>
            <a:endParaRPr sz="1100"/>
          </a:p>
        </p:txBody>
      </p:sp>
      <p:pic>
        <p:nvPicPr>
          <p:cNvPr id="167" name="Google Shape;16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100" y="1150094"/>
            <a:ext cx="3973067" cy="32929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8"/>
          <p:cNvSpPr txBox="1"/>
          <p:nvPr/>
        </p:nvSpPr>
        <p:spPr>
          <a:xfrm>
            <a:off x="2112750" y="109100"/>
            <a:ext cx="76272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Une disponibilité alimentaire bien plus grande, </a:t>
            </a:r>
            <a:endParaRPr b="1" sz="21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45720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la nourriture est mal répartie  </a:t>
            </a:r>
            <a:endParaRPr sz="1100"/>
          </a:p>
        </p:txBody>
      </p:sp>
      <p:sp>
        <p:nvSpPr>
          <p:cNvPr id="173" name="Google Shape;173;p28"/>
          <p:cNvSpPr/>
          <p:nvPr/>
        </p:nvSpPr>
        <p:spPr>
          <a:xfrm>
            <a:off x="1274600" y="2841275"/>
            <a:ext cx="2164800" cy="693600"/>
          </a:xfrm>
          <a:prstGeom prst="roundRect">
            <a:avLst>
              <a:gd fmla="val 50000" name="adj"/>
            </a:avLst>
          </a:prstGeom>
          <a:solidFill>
            <a:srgbClr val="008000"/>
          </a:solidFill>
          <a:ln cap="flat" cmpd="sng" w="9525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450">
                <a:solidFill>
                  <a:schemeClr val="lt1"/>
                </a:solidFill>
              </a:rPr>
              <a:t>8,574,702,741</a:t>
            </a:r>
            <a:r>
              <a:rPr lang="fr" sz="15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 Humains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40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74" name="Google Shape;174;p28"/>
          <p:cNvSpPr txBox="1"/>
          <p:nvPr/>
        </p:nvSpPr>
        <p:spPr>
          <a:xfrm>
            <a:off x="5311007" y="1664742"/>
            <a:ext cx="2164717" cy="501427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A80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" sz="18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2100 Kcal</a:t>
            </a:r>
            <a:endParaRPr b="0" i="0" sz="18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75" name="Google Shape;175;p28"/>
          <p:cNvSpPr/>
          <p:nvPr/>
        </p:nvSpPr>
        <p:spPr>
          <a:xfrm>
            <a:off x="6892340" y="1330831"/>
            <a:ext cx="1166766" cy="1153359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rgbClr val="FA80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descr="Moyenne - Icônes commercialisation gratuites" id="176" name="Google Shape;17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66872" y="1330831"/>
            <a:ext cx="1017701" cy="1017701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8"/>
          <p:cNvSpPr txBox="1"/>
          <p:nvPr/>
        </p:nvSpPr>
        <p:spPr>
          <a:xfrm>
            <a:off x="5311007" y="2937362"/>
            <a:ext cx="2164717" cy="501427"/>
          </a:xfrm>
          <a:prstGeom prst="rect">
            <a:avLst/>
          </a:prstGeom>
          <a:solidFill>
            <a:srgbClr val="00B050"/>
          </a:solidFill>
          <a:ln cap="flat" cmpd="sng" w="9525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" sz="18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</a:t>
            </a:r>
            <a:r>
              <a:rPr lang="fr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500</a:t>
            </a:r>
            <a:r>
              <a:rPr b="0" i="0" lang="fr" sz="18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Kcal</a:t>
            </a:r>
            <a:endParaRPr b="0" i="0" sz="18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78" name="Google Shape;178;p28"/>
          <p:cNvSpPr/>
          <p:nvPr/>
        </p:nvSpPr>
        <p:spPr>
          <a:xfrm>
            <a:off x="6892340" y="2651510"/>
            <a:ext cx="1166766" cy="1153359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descr="Images de Goal – Téléchargement gratuit sur Freepik" id="179" name="Google Shape;17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0290" y="2848838"/>
            <a:ext cx="760097" cy="760097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8"/>
          <p:cNvSpPr txBox="1"/>
          <p:nvPr/>
        </p:nvSpPr>
        <p:spPr>
          <a:xfrm>
            <a:off x="286417" y="4672051"/>
            <a:ext cx="4572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</a:rPr>
              <a:t>4</a:t>
            </a:r>
            <a:r>
              <a:rPr lang="f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/15</a:t>
            </a:r>
            <a:endParaRPr sz="1100"/>
          </a:p>
        </p:txBody>
      </p:sp>
      <p:sp>
        <p:nvSpPr>
          <p:cNvPr id="181" name="Google Shape;181;p28"/>
          <p:cNvSpPr/>
          <p:nvPr/>
        </p:nvSpPr>
        <p:spPr>
          <a:xfrm>
            <a:off x="1274600" y="1560713"/>
            <a:ext cx="2164800" cy="693600"/>
          </a:xfrm>
          <a:prstGeom prst="roundRect">
            <a:avLst>
              <a:gd fmla="val 50000" name="adj"/>
            </a:avLst>
          </a:prstGeom>
          <a:solidFill>
            <a:srgbClr val="FF0000"/>
          </a:solidFill>
          <a:ln cap="flat" cmpd="sng" w="9525">
            <a:solidFill>
              <a:srgbClr val="FA80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450">
                <a:solidFill>
                  <a:schemeClr val="lt1"/>
                </a:solidFill>
              </a:rPr>
              <a:t>7 008 098 779  </a:t>
            </a:r>
            <a:r>
              <a:rPr lang="fr" sz="15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Humains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40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9"/>
          <p:cNvSpPr txBox="1"/>
          <p:nvPr/>
        </p:nvSpPr>
        <p:spPr>
          <a:xfrm>
            <a:off x="308610" y="743582"/>
            <a:ext cx="3474351" cy="887147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1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Les végétaux représentent 	la plus grande 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lang="fr" sz="21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partie de la nourriture global</a:t>
            </a:r>
            <a:endParaRPr sz="1100"/>
          </a:p>
        </p:txBody>
      </p:sp>
      <p:sp>
        <p:nvSpPr>
          <p:cNvPr id="187" name="Google Shape;187;p29"/>
          <p:cNvSpPr/>
          <p:nvPr/>
        </p:nvSpPr>
        <p:spPr>
          <a:xfrm>
            <a:off x="308610" y="1714156"/>
            <a:ext cx="3291840" cy="13716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9"/>
          <p:cNvSpPr/>
          <p:nvPr/>
        </p:nvSpPr>
        <p:spPr>
          <a:xfrm>
            <a:off x="446703" y="2177989"/>
            <a:ext cx="876150" cy="876150"/>
          </a:xfrm>
          <a:prstGeom prst="donut">
            <a:avLst>
              <a:gd fmla="val 11964" name="adj"/>
            </a:avLst>
          </a:prstGeom>
          <a:solidFill>
            <a:srgbClr val="E6E6E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9"/>
          <p:cNvSpPr/>
          <p:nvPr/>
        </p:nvSpPr>
        <p:spPr>
          <a:xfrm>
            <a:off x="446703" y="2177989"/>
            <a:ext cx="876150" cy="876150"/>
          </a:xfrm>
          <a:prstGeom prst="blockArc">
            <a:avLst>
              <a:gd fmla="val 18599867" name="adj1"/>
              <a:gd fmla="val 16215121" name="adj2"/>
              <a:gd fmla="val 12223" name="adj3"/>
            </a:avLst>
          </a:prstGeom>
          <a:solidFill>
            <a:srgbClr val="008000"/>
          </a:solidFill>
          <a:ln cap="flat" cmpd="sng" w="9525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rgbClr val="FA807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9"/>
          <p:cNvSpPr txBox="1"/>
          <p:nvPr/>
        </p:nvSpPr>
        <p:spPr>
          <a:xfrm>
            <a:off x="523136" y="2510652"/>
            <a:ext cx="723285" cy="210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1800"/>
              <a:buFont typeface="Fira Sans Extra Condensed"/>
              <a:buNone/>
            </a:pPr>
            <a:r>
              <a:rPr b="1" lang="fr" sz="1800">
                <a:solidFill>
                  <a:srgbClr val="008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91,7</a:t>
            </a:r>
            <a:r>
              <a:rPr b="1" lang="fr" sz="1800">
                <a:solidFill>
                  <a:srgbClr val="008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%</a:t>
            </a:r>
            <a:endParaRPr b="1" sz="1800">
              <a:solidFill>
                <a:srgbClr val="008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91" name="Google Shape;191;p29"/>
          <p:cNvSpPr/>
          <p:nvPr/>
        </p:nvSpPr>
        <p:spPr>
          <a:xfrm>
            <a:off x="446703" y="3190793"/>
            <a:ext cx="876150" cy="876150"/>
          </a:xfrm>
          <a:prstGeom prst="donut">
            <a:avLst>
              <a:gd fmla="val 11964" name="adj"/>
            </a:avLst>
          </a:prstGeom>
          <a:solidFill>
            <a:srgbClr val="E6E6E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9"/>
          <p:cNvSpPr/>
          <p:nvPr/>
        </p:nvSpPr>
        <p:spPr>
          <a:xfrm>
            <a:off x="446703" y="3190793"/>
            <a:ext cx="876150" cy="876150"/>
          </a:xfrm>
          <a:prstGeom prst="blockArc">
            <a:avLst>
              <a:gd fmla="val 16251281" name="adj1"/>
              <a:gd fmla="val 16215121" name="adj2"/>
              <a:gd fmla="val 12223" name="adj3"/>
            </a:avLst>
          </a:prstGeom>
          <a:solidFill>
            <a:srgbClr val="0000FF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rgbClr val="FA807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9"/>
          <p:cNvSpPr txBox="1"/>
          <p:nvPr/>
        </p:nvSpPr>
        <p:spPr>
          <a:xfrm>
            <a:off x="472181" y="3654718"/>
            <a:ext cx="825195" cy="248445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500"/>
              <a:buFont typeface="Fira Sans Extra Condensed"/>
              <a:buNone/>
            </a:pPr>
            <a:r>
              <a:rPr b="1" lang="fr" sz="1500">
                <a:solidFill>
                  <a:srgbClr val="0000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Objectif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0000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94" name="Google Shape;194;p29"/>
          <p:cNvSpPr/>
          <p:nvPr/>
        </p:nvSpPr>
        <p:spPr>
          <a:xfrm>
            <a:off x="1386709" y="3352779"/>
            <a:ext cx="1946050" cy="603879"/>
          </a:xfrm>
          <a:prstGeom prst="roundRect">
            <a:avLst>
              <a:gd fmla="val 50000" name="adj"/>
            </a:avLst>
          </a:prstGeom>
          <a:solidFill>
            <a:srgbClr val="0000FF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400">
                <a:solidFill>
                  <a:schemeClr val="lt1"/>
                </a:solidFill>
              </a:rPr>
              <a:t>2500 </a:t>
            </a:r>
            <a:r>
              <a:rPr b="1" lang="f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Kcal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40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95" name="Google Shape;195;p29"/>
          <p:cNvSpPr/>
          <p:nvPr/>
        </p:nvSpPr>
        <p:spPr>
          <a:xfrm>
            <a:off x="1386708" y="2314125"/>
            <a:ext cx="1946050" cy="603879"/>
          </a:xfrm>
          <a:prstGeom prst="roundRect">
            <a:avLst>
              <a:gd fmla="val 50000" name="adj"/>
            </a:avLst>
          </a:prstGeom>
          <a:solidFill>
            <a:srgbClr val="008000"/>
          </a:solidFill>
          <a:ln cap="flat" cmpd="sng" w="9525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400">
                <a:solidFill>
                  <a:schemeClr val="lt1"/>
                </a:solidFill>
              </a:rPr>
              <a:t>2293 </a:t>
            </a:r>
            <a:r>
              <a:rPr b="1" lang="f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Kcal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40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descr="중앙에 가 있는 다트 타겟 보드, 다트 타겟 보드, 다트가 있는 다트판, 다트판 아이콘 PNG 일러스트 및 이미지 에 대한 무료  다운로드 - Pngtree" id="196" name="Google Shape;196;p29"/>
          <p:cNvSpPr/>
          <p:nvPr/>
        </p:nvSpPr>
        <p:spPr>
          <a:xfrm>
            <a:off x="4457700" y="245745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9"/>
          <p:cNvSpPr txBox="1"/>
          <p:nvPr/>
        </p:nvSpPr>
        <p:spPr>
          <a:xfrm>
            <a:off x="294967" y="4595426"/>
            <a:ext cx="4572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</a:rPr>
              <a:t>5</a:t>
            </a:r>
            <a:r>
              <a:rPr lang="f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/15</a:t>
            </a:r>
            <a:endParaRPr sz="1100"/>
          </a:p>
        </p:txBody>
      </p:sp>
      <p:pic>
        <p:nvPicPr>
          <p:cNvPr id="198" name="Google Shape;19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3700" y="895925"/>
            <a:ext cx="5155625" cy="397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9"/>
          <p:cNvSpPr txBox="1"/>
          <p:nvPr/>
        </p:nvSpPr>
        <p:spPr>
          <a:xfrm>
            <a:off x="7019425" y="1353825"/>
            <a:ext cx="1498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50">
                <a:solidFill>
                  <a:schemeClr val="dk1"/>
                </a:solidFill>
              </a:rPr>
              <a:t>6 91</a:t>
            </a:r>
            <a:r>
              <a:rPr lang="fr" sz="1350">
                <a:solidFill>
                  <a:schemeClr val="dk1"/>
                </a:solidFill>
              </a:rPr>
              <a:t>0 </a:t>
            </a:r>
            <a:r>
              <a:rPr lang="fr" sz="1350">
                <a:solidFill>
                  <a:schemeClr val="dk1"/>
                </a:solidFill>
              </a:rPr>
              <a:t>838 974</a:t>
            </a:r>
            <a:endParaRPr sz="13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/>
          <p:nvPr/>
        </p:nvSpPr>
        <p:spPr>
          <a:xfrm>
            <a:off x="3655014" y="690605"/>
            <a:ext cx="821118" cy="326925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30"/>
          <p:cNvSpPr/>
          <p:nvPr/>
        </p:nvSpPr>
        <p:spPr>
          <a:xfrm>
            <a:off x="2085302" y="690605"/>
            <a:ext cx="1851075" cy="326925"/>
          </a:xfrm>
          <a:prstGeom prst="homePlate">
            <a:avLst>
              <a:gd fmla="val 50000" name="adj"/>
            </a:avLst>
          </a:prstGeom>
          <a:solidFill>
            <a:srgbClr val="D6272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30"/>
          <p:cNvSpPr/>
          <p:nvPr/>
        </p:nvSpPr>
        <p:spPr>
          <a:xfrm>
            <a:off x="430303" y="574048"/>
            <a:ext cx="1558800" cy="432212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30"/>
          <p:cNvSpPr/>
          <p:nvPr/>
        </p:nvSpPr>
        <p:spPr>
          <a:xfrm>
            <a:off x="242970" y="580121"/>
            <a:ext cx="324600" cy="3510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rgbClr val="000000">
                <a:alpha val="24705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30"/>
          <p:cNvSpPr/>
          <p:nvPr/>
        </p:nvSpPr>
        <p:spPr>
          <a:xfrm flipH="1" rot="10800000">
            <a:off x="3609746" y="2671055"/>
            <a:ext cx="845361" cy="326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30"/>
          <p:cNvSpPr/>
          <p:nvPr/>
        </p:nvSpPr>
        <p:spPr>
          <a:xfrm flipH="1" rot="10800000">
            <a:off x="2084328" y="2662415"/>
            <a:ext cx="1851075" cy="326700"/>
          </a:xfrm>
          <a:prstGeom prst="homePlate">
            <a:avLst>
              <a:gd fmla="val 50000" name="adj"/>
            </a:avLst>
          </a:prstGeom>
          <a:solidFill>
            <a:srgbClr val="7F7F7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30"/>
          <p:cNvSpPr/>
          <p:nvPr/>
        </p:nvSpPr>
        <p:spPr>
          <a:xfrm flipH="1" rot="10800000">
            <a:off x="427316" y="2590666"/>
            <a:ext cx="1558800" cy="515972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30"/>
          <p:cNvSpPr/>
          <p:nvPr/>
        </p:nvSpPr>
        <p:spPr>
          <a:xfrm>
            <a:off x="259809" y="2627471"/>
            <a:ext cx="324675" cy="350871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rgbClr val="000000">
                <a:alpha val="24705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30"/>
          <p:cNvSpPr/>
          <p:nvPr/>
        </p:nvSpPr>
        <p:spPr>
          <a:xfrm>
            <a:off x="3655013" y="1136177"/>
            <a:ext cx="821118" cy="31635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30"/>
          <p:cNvSpPr/>
          <p:nvPr/>
        </p:nvSpPr>
        <p:spPr>
          <a:xfrm>
            <a:off x="430303" y="1042732"/>
            <a:ext cx="1555813" cy="444379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30"/>
          <p:cNvSpPr/>
          <p:nvPr/>
        </p:nvSpPr>
        <p:spPr>
          <a:xfrm>
            <a:off x="259809" y="1119362"/>
            <a:ext cx="324675" cy="350871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rgbClr val="000000">
                <a:alpha val="24705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30"/>
          <p:cNvSpPr/>
          <p:nvPr/>
        </p:nvSpPr>
        <p:spPr>
          <a:xfrm>
            <a:off x="2085302" y="1142779"/>
            <a:ext cx="1851075" cy="316350"/>
          </a:xfrm>
          <a:prstGeom prst="homePlate">
            <a:avLst>
              <a:gd fmla="val 50000" name="adj"/>
            </a:avLst>
          </a:prstGeom>
          <a:solidFill>
            <a:srgbClr val="2CA02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30"/>
          <p:cNvSpPr/>
          <p:nvPr/>
        </p:nvSpPr>
        <p:spPr>
          <a:xfrm flipH="1" rot="10800000">
            <a:off x="3633989" y="2130455"/>
            <a:ext cx="821118" cy="31635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30"/>
          <p:cNvSpPr/>
          <p:nvPr/>
        </p:nvSpPr>
        <p:spPr>
          <a:xfrm flipH="1" rot="10800000">
            <a:off x="437513" y="2069096"/>
            <a:ext cx="1548603" cy="483738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30"/>
          <p:cNvSpPr/>
          <p:nvPr/>
        </p:nvSpPr>
        <p:spPr>
          <a:xfrm flipH="1" rot="10800000">
            <a:off x="259809" y="2127174"/>
            <a:ext cx="324675" cy="350871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rgbClr val="000000">
                <a:alpha val="24705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30"/>
          <p:cNvSpPr/>
          <p:nvPr/>
        </p:nvSpPr>
        <p:spPr>
          <a:xfrm flipH="1" rot="10800000">
            <a:off x="2085447" y="2124781"/>
            <a:ext cx="1851075" cy="316350"/>
          </a:xfrm>
          <a:prstGeom prst="homePlate">
            <a:avLst>
              <a:gd fmla="val 50000" name="adj"/>
            </a:avLst>
          </a:prstGeom>
          <a:solidFill>
            <a:srgbClr val="1F77B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30"/>
          <p:cNvSpPr/>
          <p:nvPr/>
        </p:nvSpPr>
        <p:spPr>
          <a:xfrm flipH="1" rot="10800000">
            <a:off x="3663023" y="1618736"/>
            <a:ext cx="821118" cy="326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30"/>
          <p:cNvSpPr/>
          <p:nvPr/>
        </p:nvSpPr>
        <p:spPr>
          <a:xfrm flipH="1" rot="10800000">
            <a:off x="430303" y="1534078"/>
            <a:ext cx="1555813" cy="515972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30"/>
          <p:cNvSpPr/>
          <p:nvPr/>
        </p:nvSpPr>
        <p:spPr>
          <a:xfrm flipH="1" rot="10800000">
            <a:off x="259809" y="1622855"/>
            <a:ext cx="324675" cy="350871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rgbClr val="000000">
                <a:alpha val="24705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0"/>
          <p:cNvSpPr/>
          <p:nvPr/>
        </p:nvSpPr>
        <p:spPr>
          <a:xfrm flipH="1" rot="10800000">
            <a:off x="2084328" y="1617382"/>
            <a:ext cx="1851075" cy="326700"/>
          </a:xfrm>
          <a:prstGeom prst="homePlate">
            <a:avLst>
              <a:gd fmla="val 50000" name="adj"/>
            </a:avLst>
          </a:prstGeom>
          <a:solidFill>
            <a:srgbClr val="FF7F0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30"/>
          <p:cNvSpPr txBox="1"/>
          <p:nvPr/>
        </p:nvSpPr>
        <p:spPr>
          <a:xfrm>
            <a:off x="242858" y="637505"/>
            <a:ext cx="324900" cy="2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Fira Sans Extra Condensed Medium"/>
              <a:buNone/>
            </a:pPr>
            <a:r>
              <a:rPr lang="fr" sz="1200">
                <a:solidFill>
                  <a:srgbClr val="C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01</a:t>
            </a:r>
            <a:endParaRPr sz="1200">
              <a:solidFill>
                <a:srgbClr val="C00000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25" name="Google Shape;225;p30"/>
          <p:cNvSpPr txBox="1"/>
          <p:nvPr/>
        </p:nvSpPr>
        <p:spPr>
          <a:xfrm>
            <a:off x="259697" y="1199933"/>
            <a:ext cx="324900" cy="202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A02C"/>
              </a:buClr>
              <a:buSzPts val="1200"/>
              <a:buFont typeface="Fira Sans Extra Condensed Medium"/>
              <a:buNone/>
            </a:pPr>
            <a:r>
              <a:rPr lang="fr" sz="1200">
                <a:solidFill>
                  <a:srgbClr val="2CA02C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02</a:t>
            </a:r>
            <a:endParaRPr sz="1200">
              <a:solidFill>
                <a:srgbClr val="2CA02C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26" name="Google Shape;226;p30"/>
          <p:cNvSpPr txBox="1"/>
          <p:nvPr/>
        </p:nvSpPr>
        <p:spPr>
          <a:xfrm>
            <a:off x="259697" y="1702816"/>
            <a:ext cx="324900" cy="202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7F0E"/>
              </a:buClr>
              <a:buSzPts val="1200"/>
              <a:buFont typeface="Fira Sans Extra Condensed Medium"/>
              <a:buNone/>
            </a:pPr>
            <a:r>
              <a:rPr lang="fr" sz="1200">
                <a:solidFill>
                  <a:srgbClr val="FF7F0E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03</a:t>
            </a:r>
            <a:endParaRPr sz="1200">
              <a:solidFill>
                <a:srgbClr val="FF7F0E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27" name="Google Shape;227;p30"/>
          <p:cNvSpPr txBox="1"/>
          <p:nvPr/>
        </p:nvSpPr>
        <p:spPr>
          <a:xfrm>
            <a:off x="259697" y="2206803"/>
            <a:ext cx="324900" cy="202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Fira Sans Extra Condensed Medium"/>
              <a:buNone/>
            </a:pPr>
            <a:r>
              <a:rPr lang="fr" sz="120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04</a:t>
            </a:r>
            <a:endParaRPr sz="1200">
              <a:solidFill>
                <a:schemeClr val="accent4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28" name="Google Shape;228;p30"/>
          <p:cNvSpPr txBox="1"/>
          <p:nvPr/>
        </p:nvSpPr>
        <p:spPr>
          <a:xfrm>
            <a:off x="259697" y="2707430"/>
            <a:ext cx="324900" cy="202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Fira Sans Extra Condensed Medium"/>
              <a:buNone/>
            </a:pPr>
            <a:r>
              <a:rPr lang="fr" sz="1200">
                <a:solidFill>
                  <a:srgbClr val="7F7F7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05</a:t>
            </a:r>
            <a:endParaRPr sz="1200">
              <a:solidFill>
                <a:srgbClr val="7F7F7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29" name="Google Shape;229;p30"/>
          <p:cNvSpPr txBox="1"/>
          <p:nvPr/>
        </p:nvSpPr>
        <p:spPr>
          <a:xfrm>
            <a:off x="841583" y="697825"/>
            <a:ext cx="873581" cy="202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ira Sans Extra Condensed Medium"/>
              <a:buNone/>
            </a:pPr>
            <a:r>
              <a:rPr lang="fr" sz="12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Production</a:t>
            </a:r>
            <a:endParaRPr sz="1200">
              <a:solidFill>
                <a:schemeClr val="l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30" name="Google Shape;230;p30"/>
          <p:cNvSpPr txBox="1"/>
          <p:nvPr/>
        </p:nvSpPr>
        <p:spPr>
          <a:xfrm>
            <a:off x="884247" y="1163891"/>
            <a:ext cx="736200" cy="202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ira Sans Extra Condensed Medium"/>
              <a:buNone/>
            </a:pPr>
            <a:r>
              <a:rPr lang="fr" sz="12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Pertes</a:t>
            </a:r>
            <a:endParaRPr sz="1200">
              <a:solidFill>
                <a:schemeClr val="l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31" name="Google Shape;231;p30"/>
          <p:cNvSpPr txBox="1"/>
          <p:nvPr/>
        </p:nvSpPr>
        <p:spPr>
          <a:xfrm>
            <a:off x="841584" y="1702816"/>
            <a:ext cx="736200" cy="202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ira Sans Extra Condensed Medium"/>
              <a:buNone/>
            </a:pPr>
            <a:r>
              <a:rPr lang="fr" sz="12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Humain</a:t>
            </a:r>
            <a:endParaRPr sz="1200">
              <a:solidFill>
                <a:schemeClr val="l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32" name="Google Shape;232;p30"/>
          <p:cNvSpPr txBox="1"/>
          <p:nvPr/>
        </p:nvSpPr>
        <p:spPr>
          <a:xfrm>
            <a:off x="841584" y="2200647"/>
            <a:ext cx="736200" cy="202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ira Sans Extra Condensed Medium"/>
              <a:buNone/>
            </a:pPr>
            <a:r>
              <a:rPr lang="fr" sz="12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Animal</a:t>
            </a:r>
            <a:endParaRPr sz="1200">
              <a:solidFill>
                <a:schemeClr val="l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33" name="Google Shape;233;p30"/>
          <p:cNvSpPr txBox="1"/>
          <p:nvPr/>
        </p:nvSpPr>
        <p:spPr>
          <a:xfrm>
            <a:off x="818576" y="2745178"/>
            <a:ext cx="736200" cy="202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ira Sans Extra Condensed Medium"/>
              <a:buNone/>
            </a:pPr>
            <a:r>
              <a:rPr lang="fr" sz="12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Autres</a:t>
            </a:r>
            <a:endParaRPr sz="1200">
              <a:solidFill>
                <a:schemeClr val="l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34" name="Google Shape;234;p30"/>
          <p:cNvSpPr txBox="1"/>
          <p:nvPr/>
        </p:nvSpPr>
        <p:spPr>
          <a:xfrm>
            <a:off x="2165261" y="712486"/>
            <a:ext cx="1413450" cy="287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</a:pPr>
            <a:r>
              <a:rPr lang="fr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Représente le taux de nutrition produite total 50%</a:t>
            </a:r>
            <a:endParaRPr sz="1100"/>
          </a:p>
        </p:txBody>
      </p:sp>
      <p:sp>
        <p:nvSpPr>
          <p:cNvPr id="235" name="Google Shape;235;p30"/>
          <p:cNvSpPr txBox="1"/>
          <p:nvPr/>
        </p:nvSpPr>
        <p:spPr>
          <a:xfrm>
            <a:off x="2196296" y="1155871"/>
            <a:ext cx="1413450" cy="287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</a:pPr>
            <a:r>
              <a:rPr lang="fr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Représente le taux de nourriture perdu</a:t>
            </a:r>
            <a:endParaRPr sz="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" name="Google Shape;236;p30"/>
          <p:cNvSpPr txBox="1"/>
          <p:nvPr/>
        </p:nvSpPr>
        <p:spPr>
          <a:xfrm>
            <a:off x="2162336" y="1642759"/>
            <a:ext cx="1413450" cy="287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</a:pPr>
            <a:r>
              <a:rPr lang="fr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Représente l’utilisation humaine hors nourriture</a:t>
            </a:r>
            <a:endParaRPr sz="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" name="Google Shape;237;p30"/>
          <p:cNvSpPr txBox="1"/>
          <p:nvPr/>
        </p:nvSpPr>
        <p:spPr>
          <a:xfrm>
            <a:off x="2159597" y="2132834"/>
            <a:ext cx="1413450" cy="287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</a:pPr>
            <a:r>
              <a:rPr lang="fr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Représente l’utilisation animal, nourriture</a:t>
            </a:r>
            <a:endParaRPr sz="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" name="Google Shape;238;p30"/>
          <p:cNvSpPr txBox="1"/>
          <p:nvPr/>
        </p:nvSpPr>
        <p:spPr>
          <a:xfrm>
            <a:off x="2196296" y="2676068"/>
            <a:ext cx="1413450" cy="287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</a:pPr>
            <a:r>
              <a:rPr lang="fr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Autres utilisation de l’alimentation</a:t>
            </a:r>
            <a:endParaRPr sz="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9" name="Google Shape;239;p30"/>
          <p:cNvSpPr txBox="1"/>
          <p:nvPr/>
        </p:nvSpPr>
        <p:spPr>
          <a:xfrm>
            <a:off x="3953510" y="726167"/>
            <a:ext cx="821118" cy="287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None/>
            </a:pPr>
            <a:r>
              <a:rPr lang="fr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49,2%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" name="Google Shape;240;p30"/>
          <p:cNvSpPr txBox="1"/>
          <p:nvPr/>
        </p:nvSpPr>
        <p:spPr>
          <a:xfrm>
            <a:off x="3953510" y="1164977"/>
            <a:ext cx="1413450" cy="287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None/>
            </a:pPr>
            <a:r>
              <a:rPr lang="fr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2,2%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p30"/>
          <p:cNvSpPr txBox="1"/>
          <p:nvPr/>
        </p:nvSpPr>
        <p:spPr>
          <a:xfrm>
            <a:off x="3982802" y="1661865"/>
            <a:ext cx="1413450" cy="287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None/>
            </a:pPr>
            <a:r>
              <a:rPr lang="fr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2,4%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30"/>
          <p:cNvSpPr txBox="1"/>
          <p:nvPr/>
        </p:nvSpPr>
        <p:spPr>
          <a:xfrm>
            <a:off x="3979088" y="2144267"/>
            <a:ext cx="1301156" cy="287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None/>
            </a:pPr>
            <a:r>
              <a:rPr lang="fr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6,4%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" name="Google Shape;243;p30"/>
          <p:cNvSpPr txBox="1"/>
          <p:nvPr/>
        </p:nvSpPr>
        <p:spPr>
          <a:xfrm>
            <a:off x="3937822" y="2687065"/>
            <a:ext cx="1358851" cy="287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None/>
            </a:pPr>
            <a:r>
              <a:rPr lang="fr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4,2%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" name="Google Shape;244;p30"/>
          <p:cNvSpPr/>
          <p:nvPr/>
        </p:nvSpPr>
        <p:spPr>
          <a:xfrm flipH="1" rot="10800000">
            <a:off x="3548031" y="3234036"/>
            <a:ext cx="908342" cy="326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30"/>
          <p:cNvSpPr/>
          <p:nvPr/>
        </p:nvSpPr>
        <p:spPr>
          <a:xfrm flipH="1" rot="10800000">
            <a:off x="2070319" y="3246491"/>
            <a:ext cx="1865084" cy="326700"/>
          </a:xfrm>
          <a:prstGeom prst="homePlate">
            <a:avLst>
              <a:gd fmla="val 50000" name="adj"/>
            </a:avLst>
          </a:prstGeom>
          <a:solidFill>
            <a:srgbClr val="E477C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30"/>
          <p:cNvSpPr/>
          <p:nvPr/>
        </p:nvSpPr>
        <p:spPr>
          <a:xfrm flipH="1" rot="10800000">
            <a:off x="407246" y="3172877"/>
            <a:ext cx="1558800" cy="515972"/>
          </a:xfrm>
          <a:prstGeom prst="rect">
            <a:avLst/>
          </a:prstGeom>
          <a:solidFill>
            <a:srgbClr val="E477C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30"/>
          <p:cNvSpPr txBox="1"/>
          <p:nvPr/>
        </p:nvSpPr>
        <p:spPr>
          <a:xfrm>
            <a:off x="821828" y="3307265"/>
            <a:ext cx="893337" cy="202061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ira Sans Extra Condensed Medium"/>
              <a:buNone/>
            </a:pPr>
            <a:r>
              <a:rPr lang="fr" sz="12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Semences</a:t>
            </a:r>
            <a:endParaRPr sz="1200">
              <a:solidFill>
                <a:schemeClr val="l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48" name="Google Shape;248;p30"/>
          <p:cNvSpPr txBox="1"/>
          <p:nvPr/>
        </p:nvSpPr>
        <p:spPr>
          <a:xfrm>
            <a:off x="2154337" y="3253509"/>
            <a:ext cx="1413450" cy="287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</a:pPr>
            <a:r>
              <a:rPr lang="fr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Représente l’utilisation dans les engrets, ect..</a:t>
            </a:r>
            <a:endParaRPr sz="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" name="Google Shape;249;p30"/>
          <p:cNvSpPr txBox="1"/>
          <p:nvPr/>
        </p:nvSpPr>
        <p:spPr>
          <a:xfrm>
            <a:off x="3922941" y="3250481"/>
            <a:ext cx="1413450" cy="287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None/>
            </a:pPr>
            <a:r>
              <a:rPr lang="fr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0,8%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0" name="Google Shape;250;p30"/>
          <p:cNvSpPr/>
          <p:nvPr/>
        </p:nvSpPr>
        <p:spPr>
          <a:xfrm flipH="1" rot="10800000">
            <a:off x="3528544" y="3784139"/>
            <a:ext cx="926564" cy="379932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30"/>
          <p:cNvSpPr/>
          <p:nvPr/>
        </p:nvSpPr>
        <p:spPr>
          <a:xfrm flipH="1" rot="10800000">
            <a:off x="2071866" y="3782786"/>
            <a:ext cx="1851075" cy="393893"/>
          </a:xfrm>
          <a:prstGeom prst="homePlate">
            <a:avLst>
              <a:gd fmla="val 50000" name="adj"/>
            </a:avLst>
          </a:prstGeom>
          <a:solidFill>
            <a:srgbClr val="8C564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30"/>
          <p:cNvSpPr/>
          <p:nvPr/>
        </p:nvSpPr>
        <p:spPr>
          <a:xfrm flipH="1" rot="10800000">
            <a:off x="427315" y="3750482"/>
            <a:ext cx="1558800" cy="515972"/>
          </a:xfrm>
          <a:prstGeom prst="rect">
            <a:avLst/>
          </a:prstGeom>
          <a:solidFill>
            <a:srgbClr val="8C564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30"/>
          <p:cNvSpPr txBox="1"/>
          <p:nvPr/>
        </p:nvSpPr>
        <p:spPr>
          <a:xfrm>
            <a:off x="802340" y="3910602"/>
            <a:ext cx="912824" cy="202061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ira Sans Extra Condensed Medium"/>
              <a:buNone/>
            </a:pPr>
            <a:r>
              <a:rPr lang="fr" sz="12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Traitement</a:t>
            </a:r>
            <a:endParaRPr sz="1200">
              <a:solidFill>
                <a:schemeClr val="l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54" name="Google Shape;254;p30"/>
          <p:cNvSpPr txBox="1"/>
          <p:nvPr/>
        </p:nvSpPr>
        <p:spPr>
          <a:xfrm>
            <a:off x="2208383" y="3856569"/>
            <a:ext cx="1413450" cy="243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</a:pPr>
            <a:r>
              <a:rPr lang="fr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Représente </a:t>
            </a:r>
            <a:r>
              <a:rPr lang="fr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l'utilisation</a:t>
            </a:r>
            <a:r>
              <a:rPr lang="fr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dans le traitement de la nourriture</a:t>
            </a:r>
            <a:endParaRPr sz="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5" name="Google Shape;255;p30"/>
          <p:cNvSpPr txBox="1"/>
          <p:nvPr/>
        </p:nvSpPr>
        <p:spPr>
          <a:xfrm>
            <a:off x="3943559" y="3840384"/>
            <a:ext cx="1413450" cy="287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None/>
            </a:pPr>
            <a:r>
              <a:rPr lang="fr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10,8%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" name="Google Shape;256;p30"/>
          <p:cNvSpPr/>
          <p:nvPr/>
        </p:nvSpPr>
        <p:spPr>
          <a:xfrm flipH="1" rot="10800000">
            <a:off x="3548030" y="4386124"/>
            <a:ext cx="907077" cy="326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30"/>
          <p:cNvSpPr/>
          <p:nvPr/>
        </p:nvSpPr>
        <p:spPr>
          <a:xfrm flipH="1" rot="10800000">
            <a:off x="2087490" y="4394763"/>
            <a:ext cx="1851075" cy="326700"/>
          </a:xfrm>
          <a:prstGeom prst="homePlate">
            <a:avLst>
              <a:gd fmla="val 50000" name="adj"/>
            </a:avLst>
          </a:prstGeom>
          <a:solidFill>
            <a:srgbClr val="9467B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30"/>
          <p:cNvSpPr/>
          <p:nvPr/>
        </p:nvSpPr>
        <p:spPr>
          <a:xfrm flipH="1" rot="10800000">
            <a:off x="391058" y="4307751"/>
            <a:ext cx="1595057" cy="515972"/>
          </a:xfrm>
          <a:prstGeom prst="rect">
            <a:avLst/>
          </a:prstGeom>
          <a:solidFill>
            <a:srgbClr val="9467B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30"/>
          <p:cNvSpPr txBox="1"/>
          <p:nvPr/>
        </p:nvSpPr>
        <p:spPr>
          <a:xfrm>
            <a:off x="825595" y="4441105"/>
            <a:ext cx="889568" cy="202061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ira Sans Extra Condensed Medium"/>
              <a:buNone/>
            </a:pPr>
            <a:r>
              <a:rPr lang="fr" sz="12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Nourriture</a:t>
            </a:r>
            <a:endParaRPr sz="1200">
              <a:solidFill>
                <a:schemeClr val="l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60" name="Google Shape;260;p30"/>
          <p:cNvSpPr txBox="1"/>
          <p:nvPr/>
        </p:nvSpPr>
        <p:spPr>
          <a:xfrm>
            <a:off x="2181323" y="4414338"/>
            <a:ext cx="1413450" cy="287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</a:pPr>
            <a:r>
              <a:rPr lang="fr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Représente la nourriture global restante</a:t>
            </a:r>
            <a:endParaRPr sz="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1" name="Google Shape;261;p30"/>
          <p:cNvSpPr txBox="1"/>
          <p:nvPr/>
        </p:nvSpPr>
        <p:spPr>
          <a:xfrm>
            <a:off x="3953510" y="4396775"/>
            <a:ext cx="1413450" cy="287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None/>
            </a:pPr>
            <a:r>
              <a:rPr lang="fr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23,9%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" name="Google Shape;262;p30"/>
          <p:cNvSpPr/>
          <p:nvPr/>
        </p:nvSpPr>
        <p:spPr>
          <a:xfrm>
            <a:off x="242970" y="3247574"/>
            <a:ext cx="324675" cy="350871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rgbClr val="000000">
                <a:alpha val="24705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30"/>
          <p:cNvSpPr txBox="1"/>
          <p:nvPr/>
        </p:nvSpPr>
        <p:spPr>
          <a:xfrm>
            <a:off x="242858" y="3327534"/>
            <a:ext cx="324900" cy="202061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477C3"/>
              </a:buClr>
              <a:buSzPts val="1200"/>
              <a:buFont typeface="Fira Sans Extra Condensed Medium"/>
              <a:buNone/>
            </a:pPr>
            <a:r>
              <a:rPr lang="fr" sz="1200">
                <a:solidFill>
                  <a:srgbClr val="E477C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06</a:t>
            </a:r>
            <a:endParaRPr sz="1200">
              <a:solidFill>
                <a:srgbClr val="E477C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64" name="Google Shape;264;p30"/>
          <p:cNvSpPr/>
          <p:nvPr/>
        </p:nvSpPr>
        <p:spPr>
          <a:xfrm>
            <a:off x="255285" y="3856569"/>
            <a:ext cx="324675" cy="350871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rgbClr val="000000">
                <a:alpha val="24705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30"/>
          <p:cNvSpPr txBox="1"/>
          <p:nvPr/>
        </p:nvSpPr>
        <p:spPr>
          <a:xfrm>
            <a:off x="255173" y="3936529"/>
            <a:ext cx="324900" cy="202061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564B"/>
              </a:buClr>
              <a:buSzPts val="1200"/>
              <a:buFont typeface="Fira Sans Extra Condensed Medium"/>
              <a:buNone/>
            </a:pPr>
            <a:r>
              <a:rPr lang="fr" sz="1200">
                <a:solidFill>
                  <a:srgbClr val="8C564B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07</a:t>
            </a:r>
            <a:endParaRPr sz="1200">
              <a:solidFill>
                <a:srgbClr val="8C564B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66" name="Google Shape;266;p30"/>
          <p:cNvSpPr/>
          <p:nvPr/>
        </p:nvSpPr>
        <p:spPr>
          <a:xfrm>
            <a:off x="237920" y="4414338"/>
            <a:ext cx="324675" cy="350871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rgbClr val="000000">
                <a:alpha val="24705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30"/>
          <p:cNvSpPr txBox="1"/>
          <p:nvPr/>
        </p:nvSpPr>
        <p:spPr>
          <a:xfrm>
            <a:off x="237807" y="4494298"/>
            <a:ext cx="324900" cy="202061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Fira Sans Extra Condensed Medium"/>
              <a:buNone/>
            </a:pPr>
            <a:r>
              <a:rPr lang="fr" sz="1200">
                <a:solidFill>
                  <a:schemeClr val="accent5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08</a:t>
            </a:r>
            <a:endParaRPr sz="1200">
              <a:solidFill>
                <a:schemeClr val="accent5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68" name="Google Shape;268;p30"/>
          <p:cNvSpPr txBox="1"/>
          <p:nvPr/>
        </p:nvSpPr>
        <p:spPr>
          <a:xfrm>
            <a:off x="4942305" y="358591"/>
            <a:ext cx="45720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Seulement 24% est impliqué dans la nourriture</a:t>
            </a:r>
            <a:endParaRPr sz="1100"/>
          </a:p>
        </p:txBody>
      </p:sp>
      <p:cxnSp>
        <p:nvCxnSpPr>
          <p:cNvPr id="269" name="Google Shape;269;p30"/>
          <p:cNvCxnSpPr/>
          <p:nvPr/>
        </p:nvCxnSpPr>
        <p:spPr>
          <a:xfrm>
            <a:off x="5670755" y="1163891"/>
            <a:ext cx="2772697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0" name="Google Shape;270;p30"/>
          <p:cNvSpPr txBox="1"/>
          <p:nvPr/>
        </p:nvSpPr>
        <p:spPr>
          <a:xfrm>
            <a:off x="169606" y="4810877"/>
            <a:ext cx="4572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</a:rPr>
              <a:t>6</a:t>
            </a:r>
            <a:r>
              <a:rPr lang="f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/15</a:t>
            </a:r>
            <a:endParaRPr sz="1100"/>
          </a:p>
        </p:txBody>
      </p:sp>
      <p:pic>
        <p:nvPicPr>
          <p:cNvPr id="271" name="Google Shape;27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11617" y="1551944"/>
            <a:ext cx="3078956" cy="29360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1"/>
          <p:cNvSpPr txBox="1"/>
          <p:nvPr>
            <p:ph type="title"/>
          </p:nvPr>
        </p:nvSpPr>
        <p:spPr>
          <a:xfrm>
            <a:off x="717140" y="204708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</a:pPr>
            <a:r>
              <a:rPr b="1" lang="fr" sz="24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La distinction entre l’usage animal et humain des céréales repose sur la finalité de consommation et la transformation des céréales</a:t>
            </a:r>
            <a:endParaRPr b="1" i="0" sz="2300" u="none" cap="none" strike="noStrike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77" name="Google Shape;277;p31"/>
          <p:cNvSpPr txBox="1"/>
          <p:nvPr/>
        </p:nvSpPr>
        <p:spPr>
          <a:xfrm>
            <a:off x="294967" y="4595426"/>
            <a:ext cx="4572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</a:rPr>
              <a:t>7</a:t>
            </a:r>
            <a:r>
              <a:rPr lang="f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/15</a:t>
            </a:r>
            <a:endParaRPr sz="1100"/>
          </a:p>
        </p:txBody>
      </p:sp>
      <p:pic>
        <p:nvPicPr>
          <p:cNvPr id="278" name="Google Shape;27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6875" y="1317200"/>
            <a:ext cx="3729941" cy="3278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8975" y="1351275"/>
            <a:ext cx="3612425" cy="317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2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</a:pPr>
            <a:r>
              <a:rPr b="1" lang="fr" sz="24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la situation de la sous-nutrition en 2017 montre que ce fléau touche surtout les pays les plus pauvres, souvent confrontés à des conflits, à la sécheresse ou à l’instabilité politique</a:t>
            </a:r>
            <a:endParaRPr/>
          </a:p>
        </p:txBody>
      </p:sp>
      <p:sp>
        <p:nvSpPr>
          <p:cNvPr id="285" name="Google Shape;285;p32"/>
          <p:cNvSpPr/>
          <p:nvPr/>
        </p:nvSpPr>
        <p:spPr>
          <a:xfrm>
            <a:off x="4866975" y="3022279"/>
            <a:ext cx="3821700" cy="32643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50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FEF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32"/>
          <p:cNvSpPr txBox="1"/>
          <p:nvPr/>
        </p:nvSpPr>
        <p:spPr>
          <a:xfrm>
            <a:off x="294967" y="4595426"/>
            <a:ext cx="4572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</a:rPr>
              <a:t>8</a:t>
            </a:r>
            <a:r>
              <a:rPr lang="f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/15</a:t>
            </a:r>
            <a:endParaRPr sz="1100"/>
          </a:p>
        </p:txBody>
      </p:sp>
      <p:pic>
        <p:nvPicPr>
          <p:cNvPr id="287" name="Google Shape;28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89025" y="1420425"/>
            <a:ext cx="3706650" cy="337215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32"/>
          <p:cNvSpPr txBox="1"/>
          <p:nvPr/>
        </p:nvSpPr>
        <p:spPr>
          <a:xfrm>
            <a:off x="1133335" y="1365850"/>
            <a:ext cx="11664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75875" lIns="75875" spcFirstLastPara="1" rIns="75875" wrap="square" tIns="75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42">
              <a:solidFill>
                <a:schemeClr val="dk1"/>
              </a:solidFill>
            </a:endParaRPr>
          </a:p>
        </p:txBody>
      </p:sp>
      <p:sp>
        <p:nvSpPr>
          <p:cNvPr id="289" name="Google Shape;289;p32"/>
          <p:cNvSpPr/>
          <p:nvPr/>
        </p:nvSpPr>
        <p:spPr>
          <a:xfrm>
            <a:off x="582297" y="1425328"/>
            <a:ext cx="2268300" cy="332100"/>
          </a:xfrm>
          <a:prstGeom prst="roundRect">
            <a:avLst>
              <a:gd fmla="val 16667" name="adj"/>
            </a:avLst>
          </a:prstGeom>
          <a:solidFill>
            <a:srgbClr val="4A86E8"/>
          </a:solidFill>
          <a:ln cap="flat" cmpd="sng" w="7900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875" lIns="75875" spcFirstLastPara="1" rIns="75875" wrap="square" tIns="75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742">
                <a:solidFill>
                  <a:schemeClr val="dk1"/>
                </a:solidFill>
              </a:rPr>
              <a:t>          </a:t>
            </a:r>
            <a:r>
              <a:rPr lang="fr" sz="1742">
                <a:solidFill>
                  <a:schemeClr val="dk1"/>
                </a:solidFill>
              </a:rPr>
              <a:t>Pauvreté</a:t>
            </a:r>
            <a:endParaRPr sz="1742">
              <a:solidFill>
                <a:schemeClr val="dk1"/>
              </a:solidFill>
            </a:endParaRPr>
          </a:p>
        </p:txBody>
      </p:sp>
      <p:sp>
        <p:nvSpPr>
          <p:cNvPr id="290" name="Google Shape;290;p32"/>
          <p:cNvSpPr/>
          <p:nvPr/>
        </p:nvSpPr>
        <p:spPr>
          <a:xfrm>
            <a:off x="221850" y="1707182"/>
            <a:ext cx="2989200" cy="5157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79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  <a:effectLst>
            <a:outerShdw blurRad="42155">
              <a:srgbClr val="000000">
                <a:alpha val="60000"/>
              </a:srgbClr>
            </a:outerShdw>
          </a:effectLst>
        </p:spPr>
        <p:txBody>
          <a:bodyPr anchorCtr="0" anchor="t" bIns="75875" lIns="75875" spcFirstLastPara="1" rIns="75875" wrap="square" tIns="75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361">
                <a:solidFill>
                  <a:schemeClr val="dk1"/>
                </a:solidFill>
              </a:rPr>
              <a:t>       </a:t>
            </a:r>
            <a:r>
              <a:rPr b="1" lang="fr" sz="1361">
                <a:solidFill>
                  <a:schemeClr val="dk1"/>
                </a:solidFill>
              </a:rPr>
              <a:t>Haïti, Tchad, Mozambique,            </a:t>
            </a:r>
            <a:endParaRPr b="1" sz="136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361">
                <a:solidFill>
                  <a:schemeClr val="dk1"/>
                </a:solidFill>
              </a:rPr>
              <a:t>        Madagascar,  et le Liberia</a:t>
            </a:r>
            <a:endParaRPr b="1" sz="1942">
              <a:solidFill>
                <a:schemeClr val="dk1"/>
              </a:solidFill>
            </a:endParaRPr>
          </a:p>
        </p:txBody>
      </p:sp>
      <p:sp>
        <p:nvSpPr>
          <p:cNvPr id="291" name="Google Shape;291;p32"/>
          <p:cNvSpPr txBox="1"/>
          <p:nvPr/>
        </p:nvSpPr>
        <p:spPr>
          <a:xfrm>
            <a:off x="3311210" y="2328638"/>
            <a:ext cx="11664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75875" lIns="75875" spcFirstLastPara="1" rIns="75875" wrap="square" tIns="75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42">
              <a:solidFill>
                <a:schemeClr val="dk1"/>
              </a:solidFill>
            </a:endParaRPr>
          </a:p>
        </p:txBody>
      </p:sp>
      <p:sp>
        <p:nvSpPr>
          <p:cNvPr id="292" name="Google Shape;292;p32"/>
          <p:cNvSpPr/>
          <p:nvPr/>
        </p:nvSpPr>
        <p:spPr>
          <a:xfrm>
            <a:off x="2760172" y="2388115"/>
            <a:ext cx="2268300" cy="3321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79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875" lIns="75875" spcFirstLastPara="1" rIns="75875" wrap="square" tIns="75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42">
                <a:solidFill>
                  <a:schemeClr val="dk1"/>
                </a:solidFill>
              </a:rPr>
              <a:t>Catasrophe naturelles</a:t>
            </a:r>
            <a:endParaRPr sz="1342">
              <a:solidFill>
                <a:schemeClr val="dk1"/>
              </a:solidFill>
            </a:endParaRPr>
          </a:p>
        </p:txBody>
      </p:sp>
      <p:sp>
        <p:nvSpPr>
          <p:cNvPr id="293" name="Google Shape;293;p32"/>
          <p:cNvSpPr/>
          <p:nvPr/>
        </p:nvSpPr>
        <p:spPr>
          <a:xfrm>
            <a:off x="2399825" y="2672620"/>
            <a:ext cx="2989200" cy="5157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7900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  <a:effectLst>
            <a:outerShdw blurRad="42155">
              <a:srgbClr val="000000">
                <a:alpha val="60000"/>
              </a:srgbClr>
            </a:outerShdw>
          </a:effectLst>
        </p:spPr>
        <p:txBody>
          <a:bodyPr anchorCtr="0" anchor="t" bIns="75875" lIns="75875" spcFirstLastPara="1" rIns="75875" wrap="square" tIns="75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1"/>
                </a:solidFill>
              </a:rPr>
              <a:t>             </a:t>
            </a:r>
            <a:r>
              <a:rPr b="1" lang="fr">
                <a:solidFill>
                  <a:schemeClr val="dk1"/>
                </a:solidFill>
              </a:rPr>
              <a:t>Haïti, Madagascar, 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fr">
                <a:solidFill>
                  <a:schemeClr val="dk1"/>
                </a:solidFill>
              </a:rPr>
              <a:t>           Mozambique, Lesotho</a:t>
            </a:r>
            <a:endParaRPr b="1" sz="1742">
              <a:solidFill>
                <a:schemeClr val="dk1"/>
              </a:solidFill>
            </a:endParaRPr>
          </a:p>
        </p:txBody>
      </p:sp>
      <p:sp>
        <p:nvSpPr>
          <p:cNvPr id="294" name="Google Shape;294;p32"/>
          <p:cNvSpPr txBox="1"/>
          <p:nvPr/>
        </p:nvSpPr>
        <p:spPr>
          <a:xfrm>
            <a:off x="1206360" y="3406363"/>
            <a:ext cx="11664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75875" lIns="75875" spcFirstLastPara="1" rIns="75875" wrap="square" tIns="75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42">
              <a:solidFill>
                <a:schemeClr val="dk1"/>
              </a:solidFill>
            </a:endParaRPr>
          </a:p>
        </p:txBody>
      </p:sp>
      <p:sp>
        <p:nvSpPr>
          <p:cNvPr id="295" name="Google Shape;295;p32"/>
          <p:cNvSpPr/>
          <p:nvPr/>
        </p:nvSpPr>
        <p:spPr>
          <a:xfrm>
            <a:off x="655322" y="3401078"/>
            <a:ext cx="2268300" cy="332100"/>
          </a:xfrm>
          <a:prstGeom prst="roundRect">
            <a:avLst>
              <a:gd fmla="val 16667" name="adj"/>
            </a:avLst>
          </a:prstGeom>
          <a:solidFill>
            <a:srgbClr val="4A86E8"/>
          </a:solidFill>
          <a:ln cap="flat" cmpd="sng" w="7900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875" lIns="75875" spcFirstLastPara="1" rIns="75875" wrap="square" tIns="7587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742">
                <a:solidFill>
                  <a:schemeClr val="dk1"/>
                </a:solidFill>
              </a:rPr>
              <a:t>   Politique</a:t>
            </a:r>
            <a:endParaRPr sz="1742">
              <a:solidFill>
                <a:schemeClr val="dk1"/>
              </a:solidFill>
            </a:endParaRPr>
          </a:p>
        </p:txBody>
      </p:sp>
      <p:sp>
        <p:nvSpPr>
          <p:cNvPr id="296" name="Google Shape;296;p32"/>
          <p:cNvSpPr/>
          <p:nvPr/>
        </p:nvSpPr>
        <p:spPr>
          <a:xfrm>
            <a:off x="294975" y="3685582"/>
            <a:ext cx="2989200" cy="5157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79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  <a:effectLst>
            <a:outerShdw blurRad="42155">
              <a:srgbClr val="000000">
                <a:alpha val="60000"/>
              </a:srgbClr>
            </a:outerShdw>
          </a:effectLst>
        </p:spPr>
        <p:txBody>
          <a:bodyPr anchorCtr="0" anchor="t" bIns="75875" lIns="75875" spcFirstLastPara="1" rIns="75875" wrap="square" tIns="75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1"/>
                </a:solidFill>
              </a:rPr>
              <a:t>      </a:t>
            </a:r>
            <a:r>
              <a:rPr b="1" lang="fr">
                <a:solidFill>
                  <a:schemeClr val="dk1"/>
                </a:solidFill>
              </a:rPr>
              <a:t>Haïti, le Tchad, le Rwanda,  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fr">
                <a:solidFill>
                  <a:schemeClr val="dk1"/>
                </a:solidFill>
              </a:rPr>
              <a:t>        congo et l’Afghanistan</a:t>
            </a:r>
            <a:endParaRPr b="1" sz="1942">
              <a:solidFill>
                <a:schemeClr val="dk1"/>
              </a:solidFill>
            </a:endParaRPr>
          </a:p>
        </p:txBody>
      </p:sp>
      <p:sp>
        <p:nvSpPr>
          <p:cNvPr id="297" name="Google Shape;297;p32"/>
          <p:cNvSpPr txBox="1"/>
          <p:nvPr/>
        </p:nvSpPr>
        <p:spPr>
          <a:xfrm>
            <a:off x="3426835" y="4201275"/>
            <a:ext cx="11664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75875" lIns="75875" spcFirstLastPara="1" rIns="75875" wrap="square" tIns="75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42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3"/>
          <p:cNvSpPr txBox="1"/>
          <p:nvPr/>
        </p:nvSpPr>
        <p:spPr>
          <a:xfrm>
            <a:off x="281345" y="4799536"/>
            <a:ext cx="4572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</a:rPr>
              <a:t>9</a:t>
            </a:r>
            <a:r>
              <a:rPr lang="f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/15</a:t>
            </a:r>
            <a:endParaRPr sz="1100"/>
          </a:p>
        </p:txBody>
      </p:sp>
      <p:sp>
        <p:nvSpPr>
          <p:cNvPr id="303" name="Google Shape;303;p3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Fira Sans Extra Condensed"/>
              <a:buNone/>
            </a:pPr>
            <a:r>
              <a:rPr b="1" lang="fr" sz="27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On y retrouve des pays qui sont en instabilité à cause de la Guerre, des catastrophes naturelles, de la pauvreté extrême et des crises économique </a:t>
            </a:r>
            <a:endParaRPr/>
          </a:p>
        </p:txBody>
      </p:sp>
      <p:sp>
        <p:nvSpPr>
          <p:cNvPr id="304" name="Google Shape;304;p33"/>
          <p:cNvSpPr txBox="1"/>
          <p:nvPr/>
        </p:nvSpPr>
        <p:spPr>
          <a:xfrm>
            <a:off x="4387646" y="1673942"/>
            <a:ext cx="4491000" cy="24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</a:pPr>
            <a:r>
              <a:rPr lang="f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Yémen, Syrie, soudan, et Congo sont des pays à conflit</a:t>
            </a:r>
            <a:endParaRPr sz="1100"/>
          </a:p>
          <a:p>
            <a:pPr indent="-1270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</a:pPr>
            <a:r>
              <a:rPr lang="f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Somalie, Kenya, Bangladesh et l’Ethiopie sont des pays qui subissent des catastrophes naturelles </a:t>
            </a:r>
            <a:endParaRPr sz="1100"/>
          </a:p>
          <a:p>
            <a:pPr indent="-1270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</a:pPr>
            <a:r>
              <a:rPr lang="f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L’Ethiopie, Kenya, Bangladesh et le Niger sont des pays en pauvreté extrêmes</a:t>
            </a:r>
            <a:endParaRPr sz="1100"/>
          </a:p>
          <a:p>
            <a:pPr indent="-1270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</a:pPr>
            <a:r>
              <a:rPr lang="f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 Soudan et le Yémen sont de pays en crise économique</a:t>
            </a:r>
            <a:endParaRPr sz="1100"/>
          </a:p>
        </p:txBody>
      </p:sp>
      <p:pic>
        <p:nvPicPr>
          <p:cNvPr id="305" name="Google Shape;30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7575" y="1419463"/>
            <a:ext cx="3304323" cy="3084825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33"/>
          <p:cNvSpPr/>
          <p:nvPr/>
        </p:nvSpPr>
        <p:spPr>
          <a:xfrm>
            <a:off x="4137600" y="1673950"/>
            <a:ext cx="434400" cy="4143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rgbClr val="6D9E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1</a:t>
            </a:r>
            <a:endParaRPr/>
          </a:p>
        </p:txBody>
      </p:sp>
      <p:sp>
        <p:nvSpPr>
          <p:cNvPr id="307" name="Google Shape;307;p33"/>
          <p:cNvSpPr/>
          <p:nvPr/>
        </p:nvSpPr>
        <p:spPr>
          <a:xfrm>
            <a:off x="4137600" y="2301025"/>
            <a:ext cx="434400" cy="414300"/>
          </a:xfrm>
          <a:prstGeom prst="ellipse">
            <a:avLst/>
          </a:prstGeom>
          <a:solidFill>
            <a:srgbClr val="16E416"/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2</a:t>
            </a:r>
            <a:endParaRPr/>
          </a:p>
        </p:txBody>
      </p:sp>
      <p:sp>
        <p:nvSpPr>
          <p:cNvPr id="308" name="Google Shape;308;p33"/>
          <p:cNvSpPr/>
          <p:nvPr/>
        </p:nvSpPr>
        <p:spPr>
          <a:xfrm>
            <a:off x="4137600" y="2928100"/>
            <a:ext cx="434400" cy="414300"/>
          </a:xfrm>
          <a:prstGeom prst="ellipse">
            <a:avLst/>
          </a:prstGeom>
          <a:solidFill>
            <a:srgbClr val="B4A7D6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3</a:t>
            </a:r>
            <a:endParaRPr/>
          </a:p>
        </p:txBody>
      </p:sp>
      <p:sp>
        <p:nvSpPr>
          <p:cNvPr id="309" name="Google Shape;309;p33"/>
          <p:cNvSpPr/>
          <p:nvPr/>
        </p:nvSpPr>
        <p:spPr>
          <a:xfrm>
            <a:off x="4137600" y="3555175"/>
            <a:ext cx="434400" cy="4143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4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4"/>
          <p:cNvSpPr/>
          <p:nvPr/>
        </p:nvSpPr>
        <p:spPr>
          <a:xfrm>
            <a:off x="0" y="0"/>
            <a:ext cx="9143999" cy="514302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34"/>
          <p:cNvSpPr txBox="1"/>
          <p:nvPr/>
        </p:nvSpPr>
        <p:spPr>
          <a:xfrm>
            <a:off x="6950925" y="1517325"/>
            <a:ext cx="2193000" cy="21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0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Une aide de moins en moins grande dans certain pays expliquant une efficacité </a:t>
            </a:r>
            <a:endParaRPr sz="1100"/>
          </a:p>
        </p:txBody>
      </p:sp>
      <p:sp>
        <p:nvSpPr>
          <p:cNvPr id="316" name="Google Shape;316;p34"/>
          <p:cNvSpPr txBox="1"/>
          <p:nvPr/>
        </p:nvSpPr>
        <p:spPr>
          <a:xfrm>
            <a:off x="174047" y="4754855"/>
            <a:ext cx="1834849" cy="88372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fr" sz="1200">
                <a:solidFill>
                  <a:schemeClr val="dk1"/>
                </a:solidFill>
              </a:rPr>
              <a:t>0</a:t>
            </a:r>
            <a:r>
              <a:rPr lang="f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/15</a:t>
            </a:r>
            <a:endParaRPr sz="1100"/>
          </a:p>
        </p:txBody>
      </p:sp>
      <p:sp>
        <p:nvSpPr>
          <p:cNvPr id="317" name="Google Shape;317;p34"/>
          <p:cNvSpPr/>
          <p:nvPr/>
        </p:nvSpPr>
        <p:spPr>
          <a:xfrm rot="-5400000">
            <a:off x="2575480" y="-620425"/>
            <a:ext cx="1286609" cy="643756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34"/>
          <p:cNvSpPr/>
          <p:nvPr/>
        </p:nvSpPr>
        <p:spPr>
          <a:xfrm>
            <a:off x="226564" y="498231"/>
            <a:ext cx="6061974" cy="420025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34"/>
          <p:cNvSpPr/>
          <p:nvPr/>
        </p:nvSpPr>
        <p:spPr>
          <a:xfrm rot="5400000">
            <a:off x="5962835" y="2544073"/>
            <a:ext cx="1289304" cy="11428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0" name="Google Shape;32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0849" y="772198"/>
            <a:ext cx="5868644" cy="3684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9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L’arrêt de l’aide alimentaire : des motifs rationnels et compréhensibles</a:t>
            </a:r>
            <a:endParaRPr b="1" sz="29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pic>
        <p:nvPicPr>
          <p:cNvPr id="326" name="Google Shape;32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475" y="1324625"/>
            <a:ext cx="8755050" cy="710625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35"/>
          <p:cNvSpPr txBox="1"/>
          <p:nvPr/>
        </p:nvSpPr>
        <p:spPr>
          <a:xfrm>
            <a:off x="3100625" y="1624588"/>
            <a:ext cx="5535300" cy="1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700">
                <a:solidFill>
                  <a:srgbClr val="4A86E8"/>
                </a:solidFill>
              </a:rPr>
              <a:t>https://news.un.org/fr/story/2015/05/310692</a:t>
            </a:r>
            <a:endParaRPr sz="1700">
              <a:solidFill>
                <a:srgbClr val="4A86E8"/>
              </a:solidFill>
            </a:endParaRPr>
          </a:p>
        </p:txBody>
      </p:sp>
      <p:pic>
        <p:nvPicPr>
          <p:cNvPr id="328" name="Google Shape;32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8225" y="2091825"/>
            <a:ext cx="8362950" cy="76773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35"/>
          <p:cNvSpPr txBox="1"/>
          <p:nvPr/>
        </p:nvSpPr>
        <p:spPr>
          <a:xfrm>
            <a:off x="4905925" y="2571750"/>
            <a:ext cx="41556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rgbClr val="4A86E8"/>
                </a:solidFill>
              </a:rPr>
              <a:t>https://www.lexpress.fr/monde/proche-moyen-orient/syrie-l-aide-alimentaire-a-1-7-millions-de-refugies-suspendue-faute-de-moyens_1627881.html?cmp_redirect=true</a:t>
            </a:r>
            <a:endParaRPr sz="1000">
              <a:solidFill>
                <a:srgbClr val="4A86E8"/>
              </a:solidFill>
            </a:endParaRPr>
          </a:p>
        </p:txBody>
      </p:sp>
      <p:sp>
        <p:nvSpPr>
          <p:cNvPr id="330" name="Google Shape;330;p35"/>
          <p:cNvSpPr txBox="1"/>
          <p:nvPr/>
        </p:nvSpPr>
        <p:spPr>
          <a:xfrm>
            <a:off x="188225" y="4523625"/>
            <a:ext cx="17457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solidFill>
                  <a:schemeClr val="dk1"/>
                </a:solidFill>
              </a:rPr>
              <a:t>11/15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6"/>
          <p:cNvSpPr txBox="1"/>
          <p:nvPr/>
        </p:nvSpPr>
        <p:spPr>
          <a:xfrm>
            <a:off x="619432" y="294967"/>
            <a:ext cx="82074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les dix pays ayant la plus grande disponibilité alimentaire sont généralement des nations développées ou émergentes</a:t>
            </a:r>
            <a:endParaRPr sz="1100"/>
          </a:p>
        </p:txBody>
      </p:sp>
      <p:sp>
        <p:nvSpPr>
          <p:cNvPr id="336" name="Google Shape;336;p36"/>
          <p:cNvSpPr txBox="1"/>
          <p:nvPr/>
        </p:nvSpPr>
        <p:spPr>
          <a:xfrm>
            <a:off x="287594" y="4662564"/>
            <a:ext cx="45720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12/15</a:t>
            </a:r>
            <a:endParaRPr sz="1100"/>
          </a:p>
        </p:txBody>
      </p:sp>
      <p:sp>
        <p:nvSpPr>
          <p:cNvPr id="337" name="Google Shape;337;p36"/>
          <p:cNvSpPr txBox="1"/>
          <p:nvPr/>
        </p:nvSpPr>
        <p:spPr>
          <a:xfrm>
            <a:off x="4461387" y="1740310"/>
            <a:ext cx="40188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Ici on y retrouve des pays développés, ou des pays à fort développement agricole </a:t>
            </a:r>
            <a:endParaRPr sz="1100"/>
          </a:p>
        </p:txBody>
      </p:sp>
      <p:sp>
        <p:nvSpPr>
          <p:cNvPr id="338" name="Google Shape;338;p36"/>
          <p:cNvSpPr txBox="1"/>
          <p:nvPr/>
        </p:nvSpPr>
        <p:spPr>
          <a:xfrm>
            <a:off x="4461387" y="2663682"/>
            <a:ext cx="38715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Quant à l’Egypte le pays à un accès constant au Nil, et une agriculture modernisée et soutenue par l’état. Son économie est croissante.</a:t>
            </a:r>
            <a:endParaRPr sz="1100"/>
          </a:p>
        </p:txBody>
      </p:sp>
      <p:pic>
        <p:nvPicPr>
          <p:cNvPr id="339" name="Google Shape;33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850" y="1349242"/>
            <a:ext cx="4156588" cy="29149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7"/>
          <p:cNvSpPr txBox="1"/>
          <p:nvPr/>
        </p:nvSpPr>
        <p:spPr>
          <a:xfrm>
            <a:off x="294967" y="4595426"/>
            <a:ext cx="45720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13/15</a:t>
            </a:r>
            <a:endParaRPr sz="1100"/>
          </a:p>
        </p:txBody>
      </p:sp>
      <p:sp>
        <p:nvSpPr>
          <p:cNvPr id="345" name="Google Shape;345;p37"/>
          <p:cNvSpPr txBox="1"/>
          <p:nvPr/>
        </p:nvSpPr>
        <p:spPr>
          <a:xfrm>
            <a:off x="619432" y="294967"/>
            <a:ext cx="82074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Dans ces pays on retrouve les pays en sous nutrition, et des pays dans les mêmes raisons que vue précédemment </a:t>
            </a:r>
            <a:endParaRPr sz="1100"/>
          </a:p>
        </p:txBody>
      </p:sp>
      <p:sp>
        <p:nvSpPr>
          <p:cNvPr id="346" name="Google Shape;346;p37"/>
          <p:cNvSpPr txBox="1"/>
          <p:nvPr/>
        </p:nvSpPr>
        <p:spPr>
          <a:xfrm>
            <a:off x="4070555" y="1380228"/>
            <a:ext cx="42255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Haïti, Corée du nord, Tchad et Madagascar raison vue précédemment </a:t>
            </a:r>
            <a:endParaRPr sz="1100"/>
          </a:p>
        </p:txBody>
      </p:sp>
      <p:sp>
        <p:nvSpPr>
          <p:cNvPr id="347" name="Google Shape;347;p37"/>
          <p:cNvSpPr txBox="1"/>
          <p:nvPr/>
        </p:nvSpPr>
        <p:spPr>
          <a:xfrm>
            <a:off x="4070555" y="2142323"/>
            <a:ext cx="40926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L'Afghanistan et la République centrafricaine on une instabilité politique</a:t>
            </a:r>
            <a:endParaRPr sz="1100"/>
          </a:p>
        </p:txBody>
      </p:sp>
      <p:sp>
        <p:nvSpPr>
          <p:cNvPr id="348" name="Google Shape;348;p37"/>
          <p:cNvSpPr txBox="1"/>
          <p:nvPr/>
        </p:nvSpPr>
        <p:spPr>
          <a:xfrm>
            <a:off x="4070555" y="2814703"/>
            <a:ext cx="41223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Zambie, Zimbabwe et l’Ouganda souffre de pauvreté et d’infrastructure</a:t>
            </a:r>
            <a:endParaRPr sz="1100"/>
          </a:p>
        </p:txBody>
      </p:sp>
      <p:sp>
        <p:nvSpPr>
          <p:cNvPr id="349" name="Google Shape;349;p37"/>
          <p:cNvSpPr txBox="1"/>
          <p:nvPr/>
        </p:nvSpPr>
        <p:spPr>
          <a:xfrm>
            <a:off x="4070555" y="3443749"/>
            <a:ext cx="40926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L’Ethiopie, Zambie et le Zimbabwe souffre eux de climat difficile </a:t>
            </a:r>
            <a:endParaRPr sz="1100"/>
          </a:p>
        </p:txBody>
      </p:sp>
      <p:pic>
        <p:nvPicPr>
          <p:cNvPr id="350" name="Google Shape;35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55567"/>
            <a:ext cx="3765755" cy="2694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8"/>
          <p:cNvSpPr txBox="1"/>
          <p:nvPr/>
        </p:nvSpPr>
        <p:spPr>
          <a:xfrm>
            <a:off x="294967" y="4595426"/>
            <a:ext cx="45720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14/15</a:t>
            </a:r>
            <a:endParaRPr sz="1100"/>
          </a:p>
        </p:txBody>
      </p:sp>
      <p:sp>
        <p:nvSpPr>
          <p:cNvPr id="356" name="Google Shape;356;p3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Fira Sans Extra Condensed"/>
              <a:buNone/>
            </a:pPr>
            <a:r>
              <a:rPr lang="fr" sz="27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Des chiffres de production et d’exportation peu logique, et une disponibilité mal répartie</a:t>
            </a:r>
            <a:endParaRPr/>
          </a:p>
        </p:txBody>
      </p:sp>
      <p:sp>
        <p:nvSpPr>
          <p:cNvPr id="357" name="Google Shape;357;p38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pic>
        <p:nvPicPr>
          <p:cNvPr id="358" name="Google Shape;35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6975" y="1369225"/>
            <a:ext cx="3711650" cy="30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8100" y="1719300"/>
            <a:ext cx="323850" cy="364974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38"/>
          <p:cNvSpPr txBox="1"/>
          <p:nvPr/>
        </p:nvSpPr>
        <p:spPr>
          <a:xfrm>
            <a:off x="1239825" y="1676725"/>
            <a:ext cx="2682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</a:rPr>
              <a:t>Population sous nourris 9,39%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61" name="Google Shape;361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8100" y="2443125"/>
            <a:ext cx="323850" cy="370861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8"/>
          <p:cNvSpPr txBox="1"/>
          <p:nvPr/>
        </p:nvSpPr>
        <p:spPr>
          <a:xfrm>
            <a:off x="1239813" y="2448025"/>
            <a:ext cx="36273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</a:rPr>
              <a:t>Exportation supérieur à la production 119%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63" name="Google Shape;363;p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8100" y="3351150"/>
            <a:ext cx="323850" cy="370861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38"/>
          <p:cNvSpPr txBox="1"/>
          <p:nvPr/>
        </p:nvSpPr>
        <p:spPr>
          <a:xfrm>
            <a:off x="1180225" y="3163825"/>
            <a:ext cx="32190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</a:rPr>
              <a:t>Une </a:t>
            </a:r>
            <a:r>
              <a:rPr lang="fr">
                <a:solidFill>
                  <a:schemeClr val="dk1"/>
                </a:solidFill>
              </a:rPr>
              <a:t>disponibilité</a:t>
            </a:r>
            <a:r>
              <a:rPr lang="fr">
                <a:solidFill>
                  <a:schemeClr val="dk1"/>
                </a:solidFill>
              </a:rPr>
              <a:t> alimentaire de 2785 kcal/jour/prs -&gt; 111,4% population peut être nourris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9"/>
          <p:cNvSpPr txBox="1"/>
          <p:nvPr/>
        </p:nvSpPr>
        <p:spPr>
          <a:xfrm>
            <a:off x="294967" y="4595426"/>
            <a:ext cx="45720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15/15</a:t>
            </a:r>
            <a:endParaRPr sz="1100"/>
          </a:p>
        </p:txBody>
      </p:sp>
      <p:sp>
        <p:nvSpPr>
          <p:cNvPr id="370" name="Google Shape;370;p39"/>
          <p:cNvSpPr txBox="1"/>
          <p:nvPr>
            <p:ph type="title"/>
          </p:nvPr>
        </p:nvSpPr>
        <p:spPr>
          <a:xfrm>
            <a:off x="977800" y="209569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Fira Sans Extra Condensed"/>
              <a:buNone/>
            </a:pPr>
            <a:r>
              <a:rPr b="1" lang="fr" sz="27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Nous avons vue les raisons, incohérence et explications de ces phénomènes. Guerre, crise politique, manque d’argent , sécheresse et inégalité</a:t>
            </a:r>
            <a:endParaRPr/>
          </a:p>
        </p:txBody>
      </p:sp>
      <p:pic>
        <p:nvPicPr>
          <p:cNvPr id="371" name="Google Shape;371;p39" title="yellow-clouds-fight-a29fe2aebe4365f952ae3a4d8903db0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5021" y="1355755"/>
            <a:ext cx="1782400" cy="147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78063" y="3149275"/>
            <a:ext cx="1356325" cy="135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48325" y="983225"/>
            <a:ext cx="1519100" cy="15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71200" y="2983138"/>
            <a:ext cx="1283124" cy="1283124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9"/>
          <p:cNvSpPr txBox="1"/>
          <p:nvPr/>
        </p:nvSpPr>
        <p:spPr>
          <a:xfrm>
            <a:off x="1523938" y="2761138"/>
            <a:ext cx="1558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100">
                <a:solidFill>
                  <a:schemeClr val="dk1"/>
                </a:solidFill>
              </a:rPr>
              <a:t>Conflit</a:t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376" name="Google Shape;376;p39"/>
          <p:cNvSpPr txBox="1"/>
          <p:nvPr/>
        </p:nvSpPr>
        <p:spPr>
          <a:xfrm>
            <a:off x="1482713" y="4505600"/>
            <a:ext cx="1558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100">
                <a:solidFill>
                  <a:schemeClr val="dk1"/>
                </a:solidFill>
              </a:rPr>
              <a:t>Naturel</a:t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377" name="Google Shape;377;p39"/>
          <p:cNvSpPr txBox="1"/>
          <p:nvPr/>
        </p:nvSpPr>
        <p:spPr>
          <a:xfrm>
            <a:off x="6353688" y="2551100"/>
            <a:ext cx="1558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100">
                <a:solidFill>
                  <a:schemeClr val="dk1"/>
                </a:solidFill>
              </a:rPr>
              <a:t>Pauvreté</a:t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378" name="Google Shape;378;p39"/>
          <p:cNvSpPr txBox="1"/>
          <p:nvPr/>
        </p:nvSpPr>
        <p:spPr>
          <a:xfrm>
            <a:off x="6313763" y="4421400"/>
            <a:ext cx="1558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100">
                <a:solidFill>
                  <a:schemeClr val="dk1"/>
                </a:solidFill>
              </a:rPr>
              <a:t>Politique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